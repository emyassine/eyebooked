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7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iph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12540"/>
            <a:ext cx="7251192" cy="483291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868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5D45"/>
                </a:solidFill>
                <a:latin typeface="Aptos"/>
              </a:defRPr>
            </a:pPr>
            <a:r>
              <a:t>EYEBOOKED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554480"/>
            <a:ext cx="4114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82B24"/>
                </a:solidFill>
                <a:latin typeface="Aptos"/>
              </a:defRPr>
            </a:pPr>
            <a:r>
              <a:t>Your eye care,</a:t>
            </a:r>
            <a:br/>
            <a:r>
              <a:t>booked.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3375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B5D45"/>
                </a:solidFill>
                <a:latin typeface="Aptos"/>
              </a:defRPr>
            </a:pPr>
            <a:r>
              <a:t>Mobile App Preview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93192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B7066"/>
                </a:solidFill>
                <a:latin typeface="Aptos"/>
              </a:defRPr>
            </a:pPr>
            <a:r>
              <a:t>Eye-care booking · AI frame recommendations</a:t>
            </a:r>
            <a:br/>
            <a:r>
              <a:t>Glasses shop · Rewards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605332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B5D45"/>
                </a:solidFill>
                <a:latin typeface="Aptos"/>
              </a:defRPr>
            </a:pPr>
            <a:r>
              <a:t>EN · FR · AR  |  Morocco · MAD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B5D45"/>
                </a:solidFill>
                <a:latin typeface="Aptos"/>
              </a:defRPr>
            </a:pPr>
            <a: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2B24"/>
                </a:solidFill>
                <a:latin typeface="Aptos"/>
              </a:defRPr>
            </a:pPr>
            <a:r>
              <a:t>One mobile home for eye 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B7066"/>
                </a:solidFill>
                <a:latin typeface="Aptos"/>
              </a:defRPr>
            </a:pPr>
            <a:r>
              <a:t>A mobile-first concept connecting everyday eye health with local services and eyewear.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5486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82B24"/>
                </a:solidFill>
                <a:latin typeface="Aptos"/>
              </a:defRPr>
            </a:pPr>
            <a:r>
              <a:t>Find eye-care services and book appointments</a:t>
            </a:r>
          </a:p>
          <a:p>
            <a:pPr>
              <a:spcAft>
                <a:spcPts val="1000"/>
              </a:spcAft>
              <a:defRPr sz="1900">
                <a:solidFill>
                  <a:srgbClr val="182B24"/>
                </a:solidFill>
                <a:latin typeface="Aptos"/>
              </a:defRPr>
            </a:pPr>
            <a:r>
              <a:t>Explore AI-assisted frame inspiration and eye-strain tips</a:t>
            </a:r>
          </a:p>
          <a:p>
            <a:pPr>
              <a:spcAft>
                <a:spcPts val="1000"/>
              </a:spcAft>
              <a:defRPr sz="1900">
                <a:solidFill>
                  <a:srgbClr val="182B24"/>
                </a:solidFill>
                <a:latin typeface="Aptos"/>
              </a:defRPr>
            </a:pPr>
            <a:r>
              <a:t>Shop ready-made frames or explore custom design</a:t>
            </a:r>
          </a:p>
          <a:p>
            <a:pPr>
              <a:spcAft>
                <a:spcPts val="1000"/>
              </a:spcAft>
              <a:defRPr sz="1900">
                <a:solidFill>
                  <a:srgbClr val="182B24"/>
                </a:solidFill>
                <a:latin typeface="Aptos"/>
              </a:defRPr>
            </a:pPr>
            <a:r>
              <a:t>Return through rewards, reminders and practical eye-health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286000"/>
            <a:ext cx="3931920" cy="2926080"/>
          </a:xfrm>
          <a:prstGeom prst="roundRect">
            <a:avLst/>
          </a:prstGeom>
          <a:solidFill>
            <a:srgbClr val="E8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2788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B5D45"/>
                </a:solidFill>
                <a:latin typeface="Aptos"/>
              </a:defRPr>
            </a:pPr>
            <a:r>
              <a:t>English · Français · العربية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35204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82B24"/>
                </a:solidFill>
                <a:latin typeface="Aptos"/>
              </a:defRPr>
            </a:pPr>
            <a:r>
              <a:t>RTL support</a:t>
            </a:r>
            <a:br/>
            <a:r>
              <a:t>Morocco-focused · MAD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B7066"/>
                </a:solidFill>
                <a:latin typeface="Aptos"/>
              </a:defRPr>
            </a:pPr>
            <a:r>
              <a:t>EYBOOKED  ·  MOBILE APP PREVIEW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B5D45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B5D45"/>
                </a:solidFill>
                <a:latin typeface="Aptos"/>
              </a:defRPr>
            </a:pPr>
            <a:r>
              <a:t>01 · LOGIN &amp; 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2B24"/>
                </a:solidFill>
                <a:latin typeface="Aptos"/>
              </a:defRPr>
            </a:pPr>
            <a:r>
              <a:t>A clear start, then a useful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B7066"/>
                </a:solidFill>
                <a:latin typeface="Aptos"/>
              </a:defRPr>
            </a:pPr>
            <a:r>
              <a:t>Sign in with email or phone, then reach the app’s core actions from Home.</a:t>
            </a:r>
          </a:p>
        </p:txBody>
      </p:sp>
      <p:pic>
        <p:nvPicPr>
          <p:cNvPr id="5" name="Picture 4" descr="home-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146" y="1920240"/>
            <a:ext cx="1955707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0" y="2240280"/>
            <a:ext cx="6766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82B24"/>
                </a:solidFill>
                <a:latin typeface="Aptos"/>
              </a:defRPr>
            </a:pPr>
            <a:r>
              <a:t>EyeBooked · Your eye care, booked.</a:t>
            </a:r>
          </a:p>
          <a:p>
            <a:pPr>
              <a:spcAft>
                <a:spcPts val="1000"/>
              </a:spcAft>
              <a:defRPr sz="2000">
                <a:solidFill>
                  <a:srgbClr val="182B24"/>
                </a:solidFill>
                <a:latin typeface="Aptos"/>
              </a:defRPr>
            </a:pPr>
            <a:r>
              <a:t>Email or phone · Password · Sign in</a:t>
            </a:r>
          </a:p>
          <a:p>
            <a:pPr>
              <a:spcAft>
                <a:spcPts val="1000"/>
              </a:spcAft>
              <a:defRPr sz="2000">
                <a:solidFill>
                  <a:srgbClr val="182B24"/>
                </a:solidFill>
                <a:latin typeface="Aptos"/>
              </a:defRPr>
            </a:pPr>
            <a:r>
              <a:t>Good afternoon</a:t>
            </a:r>
          </a:p>
          <a:p>
            <a:pPr>
              <a:spcAft>
                <a:spcPts val="1000"/>
              </a:spcAft>
              <a:defRPr sz="2000">
                <a:solidFill>
                  <a:srgbClr val="182B24"/>
                </a:solidFill>
                <a:latin typeface="Aptos"/>
              </a:defRPr>
            </a:pPr>
            <a:r>
              <a:t>Try free for 7 days</a:t>
            </a:r>
          </a:p>
          <a:p>
            <a:pPr>
              <a:spcAft>
                <a:spcPts val="1000"/>
              </a:spcAft>
              <a:defRPr sz="2000">
                <a:solidFill>
                  <a:srgbClr val="182B24"/>
                </a:solidFill>
                <a:latin typeface="Aptos"/>
              </a:defRPr>
            </a:pPr>
            <a:r>
              <a:t>AI Face Scan and Quick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B7066"/>
                </a:solidFill>
                <a:latin typeface="Aptos"/>
              </a:defRPr>
            </a:pPr>
            <a:r>
              <a:t>EYBOOKED  ·  MOBILE APP PREVIEW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B5D45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B5D45"/>
                </a:solidFill>
                <a:latin typeface="Aptos"/>
              </a:defRPr>
            </a:pPr>
            <a:r>
              <a:t>02 · DOCTOR BOOKING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2B24"/>
                </a:solidFill>
                <a:latin typeface="Aptos"/>
              </a:defRPr>
            </a:pPr>
            <a:r>
              <a:t>Find care by city and proximity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B7066"/>
                </a:solidFill>
                <a:latin typeface="Aptos"/>
              </a:defRPr>
            </a:pPr>
            <a:r>
              <a:t>The concept targets 30+ ophthalmologists across major Moroccan cities. This profile screen demonstrates appointment management; doctor listings use sample data.</a:t>
            </a:r>
          </a:p>
        </p:txBody>
      </p:sp>
      <p:pic>
        <p:nvPicPr>
          <p:cNvPr id="5" name="Picture 4" descr="doctor-book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162" y="1828800"/>
            <a:ext cx="2018794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60520" y="2240280"/>
            <a:ext cx="7315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82B24"/>
                </a:solidFill>
                <a:latin typeface="Aptos"/>
              </a:defRPr>
            </a:pPr>
            <a:r>
              <a:t>Casablanca: Amina El Fassi · Maarif · ★ 4.9</a:t>
            </a:r>
          </a:p>
          <a:p>
            <a:pPr>
              <a:spcAft>
                <a:spcPts val="1000"/>
              </a:spcAft>
              <a:defRPr sz="1700">
                <a:solidFill>
                  <a:srgbClr val="182B24"/>
                </a:solidFill>
                <a:latin typeface="Aptos"/>
              </a:defRPr>
            </a:pPr>
            <a:r>
              <a:t>Casablanca: Youssef Bennani · Gauthier · ★ 4.8</a:t>
            </a:r>
          </a:p>
          <a:p>
            <a:pPr>
              <a:spcAft>
                <a:spcPts val="1000"/>
              </a:spcAft>
              <a:defRPr sz="1700">
                <a:solidFill>
                  <a:srgbClr val="182B24"/>
                </a:solidFill>
                <a:latin typeface="Aptos"/>
              </a:defRPr>
            </a:pPr>
            <a:r>
              <a:t>Casablanca: Salma Idrissi · Ain Diab · ★ 4.7</a:t>
            </a:r>
          </a:p>
          <a:p>
            <a:pPr>
              <a:spcAft>
                <a:spcPts val="1000"/>
              </a:spcAft>
              <a:defRPr sz="1700">
                <a:solidFill>
                  <a:srgbClr val="182B24"/>
                </a:solidFill>
                <a:latin typeface="Aptos"/>
              </a:defRPr>
            </a:pPr>
            <a:r>
              <a:t>Rabat: Karim Alaoui · Agdal · ★ 4.9</a:t>
            </a:r>
          </a:p>
          <a:p>
            <a:pPr>
              <a:spcAft>
                <a:spcPts val="1000"/>
              </a:spcAft>
              <a:defRPr sz="1700">
                <a:solidFill>
                  <a:srgbClr val="182B24"/>
                </a:solidFill>
                <a:latin typeface="Aptos"/>
              </a:defRPr>
            </a:pPr>
            <a:r>
              <a:t>Sort by nearest · Browse by city · 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B7066"/>
                </a:solidFill>
                <a:latin typeface="Aptos"/>
              </a:defRPr>
            </a:pPr>
            <a:r>
              <a:t>EYBOOKED  ·  MOBILE APP PREVIEW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B5D45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B5D45"/>
                </a:solidFill>
                <a:latin typeface="Aptos"/>
              </a:defRPr>
            </a:pPr>
            <a:r>
              <a:t>03 · GLASSES 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2B24"/>
                </a:solidFill>
                <a:latin typeface="Aptos"/>
              </a:defRPr>
            </a:pPr>
            <a:r>
              <a:t>Browse ready-made or design your 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B7066"/>
                </a:solidFill>
                <a:latin typeface="Aptos"/>
              </a:defRPr>
            </a:pPr>
            <a:r>
              <a:t>A product path from frame discovery to custom designs and progressive lens options.</a:t>
            </a:r>
          </a:p>
        </p:txBody>
      </p:sp>
      <p:pic>
        <p:nvPicPr>
          <p:cNvPr id="5" name="Picture 4" descr="glasses-customizer-optim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631" y="1828800"/>
            <a:ext cx="4322896" cy="4297680"/>
          </a:xfrm>
          <a:prstGeom prst="rect">
            <a:avLst/>
          </a:prstGeom>
        </p:spPr>
      </p:pic>
      <p:pic>
        <p:nvPicPr>
          <p:cNvPr id="6" name="Picture 5" descr="sh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611" y="1828800"/>
            <a:ext cx="1976736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2331720"/>
            <a:ext cx="3383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82B24"/>
                </a:solidFill>
                <a:latin typeface="Aptos"/>
              </a:defRPr>
            </a:pPr>
            <a:r>
              <a:t>Ray-Ban RX6489 · 1,090 MAD</a:t>
            </a:r>
          </a:p>
          <a:p>
            <a:pPr>
              <a:spcAft>
                <a:spcPts val="1000"/>
              </a:spcAft>
              <a:defRPr sz="1600">
                <a:solidFill>
                  <a:srgbClr val="182B24"/>
                </a:solidFill>
                <a:latin typeface="Aptos"/>
              </a:defRPr>
            </a:pPr>
            <a:r>
              <a:t>Persol PO3007V · 1,690 MAD</a:t>
            </a:r>
          </a:p>
          <a:p>
            <a:pPr>
              <a:spcAft>
                <a:spcPts val="1000"/>
              </a:spcAft>
              <a:defRPr sz="1600">
                <a:solidFill>
                  <a:srgbClr val="182B24"/>
                </a:solidFill>
                <a:latin typeface="Aptos"/>
              </a:defRPr>
            </a:pPr>
            <a:r>
              <a:t>Clubmaster · 950 MAD</a:t>
            </a:r>
          </a:p>
          <a:p>
            <a:pPr>
              <a:spcAft>
                <a:spcPts val="1000"/>
              </a:spcAft>
              <a:defRPr sz="1600">
                <a:solidFill>
                  <a:srgbClr val="182B24"/>
                </a:solidFill>
                <a:latin typeface="Aptos"/>
              </a:defRPr>
            </a:pPr>
            <a:r>
              <a:t>Oakley OX8046 · 890 MAD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B7066"/>
                </a:solidFill>
                <a:latin typeface="Aptos"/>
              </a:defRPr>
            </a:pPr>
            <a:r>
              <a:t>EYBOOKED  ·  MOBILE APP PREVIEW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B5D45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B5D45"/>
                </a:solidFill>
                <a:latin typeface="Aptos"/>
              </a:defRPr>
            </a:pPr>
            <a:r>
              <a:t>04 · REWARDS &amp; EYE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2B24"/>
                </a:solidFill>
                <a:latin typeface="Aptos"/>
              </a:defRPr>
            </a:pPr>
            <a:r>
              <a:t>Small habits, useful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B7066"/>
                </a:solidFill>
                <a:latin typeface="Aptos"/>
              </a:defRPr>
            </a:pPr>
            <a:r>
              <a:t>Build reasons to return while keeping eye-health features easy to find.</a:t>
            </a:r>
          </a:p>
        </p:txBody>
      </p:sp>
      <p:pic>
        <p:nvPicPr>
          <p:cNvPr id="5" name="Picture 4" descr="rewar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031" y="1874519"/>
            <a:ext cx="1976736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0" y="2377440"/>
            <a:ext cx="6858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82B24"/>
                </a:solidFill>
                <a:latin typeface="Aptos"/>
              </a:defRPr>
            </a:pPr>
            <a:r>
              <a:t>Rewards &amp; Coins: daily streaks, coupons and free-Friday consultation promotions</a:t>
            </a:r>
          </a:p>
          <a:p>
            <a:pPr>
              <a:spcAft>
                <a:spcPts val="1000"/>
              </a:spcAft>
              <a:defRPr sz="1900">
                <a:solidFill>
                  <a:srgbClr val="182B24"/>
                </a:solidFill>
                <a:latin typeface="Aptos"/>
              </a:defRPr>
            </a:pPr>
            <a:r>
              <a:t>Premium Eye Lab: 20-20-20 rest timer and Amsler grid self-check</a:t>
            </a:r>
          </a:p>
          <a:p>
            <a:pPr>
              <a:spcAft>
                <a:spcPts val="1000"/>
              </a:spcAft>
              <a:defRPr sz="1900">
                <a:solidFill>
                  <a:srgbClr val="182B24"/>
                </a:solidFill>
                <a:latin typeface="Aptos"/>
              </a:defRPr>
            </a:pPr>
            <a:r>
              <a:t>Charity concept: sponsor free eye exams for low-income patients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B7066"/>
                </a:solidFill>
                <a:latin typeface="Aptos"/>
              </a:defRPr>
            </a:pPr>
            <a:r>
              <a:t>EYBOOKED  ·  MOBILE APP PREVIEW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B5D45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B5D45"/>
                </a:solidFill>
                <a:latin typeface="Aptos"/>
              </a:defRPr>
            </a:pPr>
            <a:r>
              <a:t>05 · ORDER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2B24"/>
                </a:solidFill>
                <a:latin typeface="Aptos"/>
              </a:defRPr>
            </a:pPr>
            <a:r>
              <a:t>Checkout with order status in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B7066"/>
                </a:solidFill>
                <a:latin typeface="Aptos"/>
              </a:defRPr>
            </a:pPr>
            <a:r>
              <a:t>A guided cart for eyewear, with delivery stages envisioned from preparation through arrival.</a:t>
            </a:r>
          </a:p>
        </p:txBody>
      </p:sp>
      <p:pic>
        <p:nvPicPr>
          <p:cNvPr id="5" name="Picture 4" descr="order-checkou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44596"/>
            <a:ext cx="6675120" cy="44489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26679" y="2468880"/>
            <a:ext cx="3749039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82B24"/>
                </a:solidFill>
                <a:latin typeface="Aptos"/>
              </a:defRPr>
            </a:pPr>
            <a:r>
              <a:t>Shop frames and configure an order</a:t>
            </a:r>
          </a:p>
          <a:p>
            <a:pPr>
              <a:spcAft>
                <a:spcPts val="1000"/>
              </a:spcAft>
              <a:defRPr sz="1800">
                <a:solidFill>
                  <a:srgbClr val="182B24"/>
                </a:solidFill>
                <a:latin typeface="Aptos"/>
              </a:defRPr>
            </a:pPr>
            <a:r>
              <a:t>Review cart and delivery details</a:t>
            </a:r>
          </a:p>
          <a:p>
            <a:pPr>
              <a:spcAft>
                <a:spcPts val="1000"/>
              </a:spcAft>
              <a:defRPr sz="1800">
                <a:solidFill>
                  <a:srgbClr val="182B24"/>
                </a:solidFill>
                <a:latin typeface="Aptos"/>
              </a:defRPr>
            </a:pPr>
            <a:r>
              <a:t>Follow order stages in real time (planned service integration)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B7066"/>
                </a:solidFill>
                <a:latin typeface="Aptos"/>
              </a:defRPr>
            </a:pPr>
            <a:r>
              <a:t>EYBOOKED  ·  MOBILE APP PREVIEW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B5D45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B5D45"/>
                </a:solidFill>
                <a:latin typeface="Aptos"/>
              </a:defRPr>
            </a:pPr>
            <a:r>
              <a:t>MOBILE-FIRST · MULTILINGUAL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2B24"/>
                </a:solidFill>
                <a:latin typeface="Aptos"/>
              </a:defRPr>
            </a:pPr>
            <a:r>
              <a:t>Ready for a phone-sized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B7066"/>
                </a:solidFill>
                <a:latin typeface="Aptos"/>
              </a:defRPr>
            </a:pPr>
            <a:r>
              <a:t>English · Français · العربية with right-to-left layout support. Morocco-focused examples in MAD.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40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B5D45"/>
                </a:solidFill>
                <a:latin typeface="Aptos"/>
              </a:defRPr>
            </a:pPr>
            <a:r>
              <a:t>DEMO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82B24"/>
                </a:solidFill>
                <a:latin typeface="Aptos"/>
              </a:defRPr>
            </a:pPr>
            <a:r>
              <a:t>No real payments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83280"/>
            <a:ext cx="6492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B7066"/>
                </a:solidFill>
                <a:latin typeface="Aptos"/>
              </a:defRPr>
            </a:pPr>
            <a:r>
              <a:t>The current build is a front-end prototype. Authentication, booking, AI recommendations, checkout, rewards and live order tracking require production services and integrations before launch.</a:t>
            </a:r>
          </a:p>
        </p:txBody>
      </p:sp>
      <p:pic>
        <p:nvPicPr>
          <p:cNvPr id="8" name="Picture 7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2057400"/>
            <a:ext cx="2377440" cy="2377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7532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5D45"/>
                </a:solidFill>
                <a:latin typeface="Aptos"/>
              </a:defRPr>
            </a:pPr>
            <a:r>
              <a:t>EyeBooked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82B24"/>
                </a:solidFill>
                <a:latin typeface="Aptos"/>
              </a:defRPr>
            </a:pPr>
            <a:r>
              <a:t>Your eye care, booked.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B7066"/>
                </a:solidFill>
                <a:latin typeface="Aptos"/>
              </a:defRPr>
            </a:pPr>
            <a:r>
              <a:t>EYBOOKED  ·  MOBILE APP PREVIEW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B5D45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